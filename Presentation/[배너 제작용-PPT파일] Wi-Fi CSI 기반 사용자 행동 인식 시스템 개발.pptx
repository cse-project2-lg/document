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B1A53-1C38-46DD-8AE4-CA90377AA8F8}" v="1" dt="2026-06-07T06:42:45.7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641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89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63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31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38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00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61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12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71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40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14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15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4E94E-DBF1-4B2A-9CA1-B750FDC380F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42" y="728506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Wi-Fi CSI </a:t>
            </a:r>
            <a:r>
              <a:rPr lang="ko-KR" altLang="en-US" sz="3600" dirty="0">
                <a:solidFill>
                  <a:srgbClr val="002060"/>
                </a:solidFill>
                <a:latin typeface="+mn-ea"/>
              </a:rPr>
              <a:t>기반 사용자 행동 인식 시스템 개발</a:t>
            </a:r>
            <a:endParaRPr lang="en-US" altLang="ko-KR" sz="3600" dirty="0">
              <a:solidFill>
                <a:srgbClr val="002060"/>
              </a:solidFill>
              <a:latin typeface="+mn-ea"/>
            </a:endParaRPr>
          </a:p>
          <a:p>
            <a:pPr algn="ctr"/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(feat </a:t>
            </a:r>
            <a:r>
              <a:rPr lang="ko-KR" altLang="en-US" sz="3600" dirty="0">
                <a:solidFill>
                  <a:srgbClr val="002060"/>
                </a:solidFill>
                <a:latin typeface="+mn-ea"/>
              </a:rPr>
              <a:t>낙상 감지</a:t>
            </a:r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)</a:t>
            </a:r>
            <a:endParaRPr lang="ko-KR" altLang="en-US" sz="360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81891" y="4663440"/>
            <a:ext cx="11039302" cy="180386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542" y="2279757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기업명 </a:t>
            </a:r>
            <a:r>
              <a:rPr lang="en-US" altLang="ko-KR" sz="2000" dirty="0"/>
              <a:t>: </a:t>
            </a:r>
            <a:r>
              <a:rPr lang="ko-KR" altLang="en-US" sz="2000" dirty="0"/>
              <a:t>㈜ </a:t>
            </a:r>
            <a:r>
              <a:rPr lang="en-US" altLang="ko-KR" sz="2000" dirty="0"/>
              <a:t>LG</a:t>
            </a:r>
            <a:r>
              <a:rPr lang="ko-KR" altLang="en-US" sz="2000" dirty="0"/>
              <a:t>전자</a:t>
            </a:r>
            <a:r>
              <a:rPr lang="en-US" altLang="ko-KR" sz="2000" dirty="0"/>
              <a:t>                                             </a:t>
            </a:r>
            <a:r>
              <a:rPr lang="ko-KR" altLang="en-US" sz="2000" dirty="0"/>
              <a:t>멘토 </a:t>
            </a:r>
            <a:r>
              <a:rPr lang="en-US" altLang="ko-KR" sz="2000" dirty="0"/>
              <a:t>: </a:t>
            </a:r>
            <a:r>
              <a:rPr lang="ko-KR" altLang="en-US" sz="2000" dirty="0"/>
              <a:t>이동훈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76837"/>
              </p:ext>
            </p:extLst>
          </p:nvPr>
        </p:nvGraphicFramePr>
        <p:xfrm>
          <a:off x="644236" y="2819570"/>
          <a:ext cx="11039305" cy="85199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207861">
                  <a:extLst>
                    <a:ext uri="{9D8B030D-6E8A-4147-A177-3AD203B41FA5}">
                      <a16:colId xmlns:a16="http://schemas.microsoft.com/office/drawing/2014/main" val="3879655121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2052876400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1287686911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3437281430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1670297334"/>
                    </a:ext>
                  </a:extLst>
                </a:gridCol>
              </a:tblGrid>
              <a:tr h="425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 err="1"/>
                        <a:t>컴퓨터학부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295558"/>
                  </a:ext>
                </a:extLst>
              </a:tr>
              <a:tr h="425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박소현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/>
                        <a:t>김은정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양혜진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최지원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/>
                        <a:t>황원영</a:t>
                      </a:r>
                      <a:endParaRPr lang="ko-KR" altLang="en-US" sz="2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85899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37900" y="4745024"/>
            <a:ext cx="11083293" cy="2036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2000" dirty="0"/>
              <a:t>○ 기존 낙상 탐지 한계 극복</a:t>
            </a:r>
            <a:r>
              <a:rPr lang="en-US" altLang="ko-KR" sz="2000" dirty="0"/>
              <a:t>: </a:t>
            </a:r>
            <a:r>
              <a:rPr lang="ko-KR" altLang="en-US" sz="2000" dirty="0"/>
              <a:t>카메라 기반의 사생활 침해 문제로 인한 한계 근본적 해결</a:t>
            </a:r>
            <a:endParaRPr lang="en-US" altLang="ko-KR" sz="2000" dirty="0"/>
          </a:p>
          <a:p>
            <a:pPr>
              <a:lnSpc>
                <a:spcPts val="2000"/>
              </a:lnSpc>
            </a:pPr>
            <a:endParaRPr lang="en-US" altLang="ko-KR" sz="2000" dirty="0"/>
          </a:p>
          <a:p>
            <a:pPr>
              <a:lnSpc>
                <a:spcPts val="2000"/>
              </a:lnSpc>
            </a:pPr>
            <a:r>
              <a:rPr lang="ko-KR" altLang="en-US" sz="2000" dirty="0"/>
              <a:t>○ </a:t>
            </a:r>
            <a:r>
              <a:rPr lang="ko-KR" altLang="en-US" sz="2000" dirty="0" err="1"/>
              <a:t>비접촉</a:t>
            </a:r>
            <a:r>
              <a:rPr lang="ko-KR" altLang="en-US" sz="2000" dirty="0"/>
              <a:t> </a:t>
            </a:r>
            <a:r>
              <a:rPr lang="en-US" altLang="ko-KR" sz="2000" dirty="0"/>
              <a:t>· </a:t>
            </a:r>
            <a:r>
              <a:rPr lang="ko-KR" altLang="en-US" sz="2000" dirty="0" err="1"/>
              <a:t>비시각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라즈베리파이와</a:t>
            </a:r>
            <a:r>
              <a:rPr lang="ko-KR" altLang="en-US" sz="2000" dirty="0"/>
              <a:t> </a:t>
            </a:r>
            <a:r>
              <a:rPr lang="en-US" altLang="ko-KR" sz="2000" dirty="0"/>
              <a:t>Wi-Fi CSI </a:t>
            </a:r>
            <a:r>
              <a:rPr lang="ko-KR" altLang="en-US" sz="2000" dirty="0"/>
              <a:t>데이터 활용</a:t>
            </a:r>
            <a:r>
              <a:rPr lang="en-US" altLang="ko-KR" sz="2000" dirty="0"/>
              <a:t>, </a:t>
            </a:r>
            <a:r>
              <a:rPr lang="ko-KR" altLang="en-US" sz="2000" dirty="0"/>
              <a:t>공간 내 사용자 행동 및 낙상 인식</a:t>
            </a:r>
            <a:endParaRPr lang="en-US" altLang="ko-KR" sz="2000" dirty="0"/>
          </a:p>
          <a:p>
            <a:pPr>
              <a:lnSpc>
                <a:spcPts val="2000"/>
              </a:lnSpc>
            </a:pPr>
            <a:endParaRPr lang="en-US" altLang="ko-KR" sz="2000" dirty="0"/>
          </a:p>
          <a:p>
            <a:pPr>
              <a:lnSpc>
                <a:spcPts val="2500"/>
              </a:lnSpc>
            </a:pPr>
            <a:r>
              <a:rPr lang="ko-KR" altLang="en-US" sz="2000" dirty="0"/>
              <a:t>○ 사생활 </a:t>
            </a:r>
            <a:r>
              <a:rPr lang="ko-KR" altLang="en-US" sz="2000" dirty="0" err="1"/>
              <a:t>보호형</a:t>
            </a:r>
            <a:r>
              <a:rPr lang="ko-KR" altLang="en-US" sz="2000" dirty="0"/>
              <a:t> 헬스케어</a:t>
            </a:r>
            <a:r>
              <a:rPr lang="en-US" altLang="ko-KR" sz="2000" dirty="0"/>
              <a:t>: </a:t>
            </a:r>
            <a:r>
              <a:rPr lang="ko-KR" altLang="en-US" sz="2000" dirty="0"/>
              <a:t>프라이버시가 완벽히 보장된 독거노인 및 취약계층 대상 상시 안전 모니터링 환경 구축</a:t>
            </a:r>
            <a:endParaRPr lang="en-US" altLang="ko-KR" sz="2000" dirty="0"/>
          </a:p>
          <a:p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581891" y="4073237"/>
            <a:ext cx="4463934" cy="448887"/>
            <a:chOff x="627842" y="1492250"/>
            <a:chExt cx="2664888" cy="444500"/>
          </a:xfrm>
        </p:grpSpPr>
        <p:pic>
          <p:nvPicPr>
            <p:cNvPr id="21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22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배경 및 목표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12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212579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시스템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 </a:t>
              </a: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전체 구조도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(</a:t>
              </a:r>
              <a:r>
                <a:rPr lang="ko-KR" altLang="en-US" sz="2000" b="1" dirty="0" err="1">
                  <a:solidFill>
                    <a:srgbClr val="1C5E8D"/>
                  </a:solidFill>
                  <a:latin typeface="+mn-ea"/>
                </a:rPr>
                <a:t>기술스택</a:t>
              </a: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 포함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)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91" y="706328"/>
            <a:ext cx="10904740" cy="613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9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구현 기능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F47CAB1-2AE7-A188-12DA-7898C4542976}"/>
              </a:ext>
            </a:extLst>
          </p:cNvPr>
          <p:cNvSpPr txBox="1"/>
          <p:nvPr/>
        </p:nvSpPr>
        <p:spPr>
          <a:xfrm>
            <a:off x="527805" y="1633936"/>
            <a:ext cx="25962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ko-KR" dirty="0" err="1"/>
              <a:t>Wi-Fi</a:t>
            </a:r>
            <a:r>
              <a:rPr lang="ko-KR" altLang="ko-KR" dirty="0"/>
              <a:t> CSI, PIR, </a:t>
            </a:r>
            <a:r>
              <a:rPr lang="ko-KR" altLang="ko-KR" dirty="0" err="1"/>
              <a:t>ToF</a:t>
            </a:r>
            <a:r>
              <a:rPr lang="ko-KR" altLang="ko-KR" dirty="0"/>
              <a:t> 데이터를 수집하여 사용자의 움직임과 거리 변화를 감지</a:t>
            </a:r>
            <a:endParaRPr lang="ko-KR" altLang="en-US" dirty="0"/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CB3701C7-CA9A-6244-A337-ABE327C1B6F1}"/>
              </a:ext>
            </a:extLst>
          </p:cNvPr>
          <p:cNvSpPr txBox="1"/>
          <p:nvPr/>
        </p:nvSpPr>
        <p:spPr>
          <a:xfrm>
            <a:off x="694190" y="956083"/>
            <a:ext cx="2202279" cy="41508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2400" b="1" dirty="0" err="1">
                <a:solidFill>
                  <a:srgbClr val="1C5E8D"/>
                </a:solidFill>
                <a:latin typeface="+mn-ea"/>
              </a:rPr>
              <a:t>멀티모달</a:t>
            </a:r>
            <a:r>
              <a:rPr lang="ko-KR" altLang="en-US" sz="2400" b="1" dirty="0">
                <a:solidFill>
                  <a:srgbClr val="1C5E8D"/>
                </a:solidFill>
                <a:latin typeface="+mn-ea"/>
              </a:rPr>
              <a:t> 센싱</a:t>
            </a:r>
            <a:endParaRPr lang="ko-KR" sz="2400" b="1" i="0" u="none" strike="noStrike" dirty="0">
              <a:solidFill>
                <a:srgbClr val="1C5E8D"/>
              </a:solidFill>
              <a:latin typeface="+mn-ea"/>
            </a:endParaRP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F75B548C-52F9-4C43-7469-1F36B82B2FF1}"/>
              </a:ext>
            </a:extLst>
          </p:cNvPr>
          <p:cNvSpPr txBox="1"/>
          <p:nvPr/>
        </p:nvSpPr>
        <p:spPr>
          <a:xfrm>
            <a:off x="3671442" y="956082"/>
            <a:ext cx="2145371" cy="41508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2400" b="1" i="0" u="none" strike="noStrike" dirty="0" err="1">
                <a:solidFill>
                  <a:srgbClr val="1C5E8D"/>
                </a:solidFill>
                <a:latin typeface="+mn-ea"/>
              </a:rPr>
              <a:t>엣지</a:t>
            </a:r>
            <a:r>
              <a:rPr lang="ko-KR" altLang="en-US" sz="2400" b="1" i="0" u="none" strike="noStrike" dirty="0">
                <a:solidFill>
                  <a:srgbClr val="1C5E8D"/>
                </a:solidFill>
                <a:latin typeface="+mn-ea"/>
              </a:rPr>
              <a:t> 판정</a:t>
            </a:r>
            <a:endParaRPr lang="ko-KR" sz="2400" b="1" i="0" u="none" strike="noStrike" dirty="0">
              <a:solidFill>
                <a:srgbClr val="1C5E8D"/>
              </a:solidFill>
              <a:latin typeface="+mn-ea"/>
            </a:endParaRPr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7FC56318-8F48-3B32-91AD-47DED706CE56}"/>
              </a:ext>
            </a:extLst>
          </p:cNvPr>
          <p:cNvSpPr txBox="1"/>
          <p:nvPr/>
        </p:nvSpPr>
        <p:spPr>
          <a:xfrm>
            <a:off x="6860479" y="956082"/>
            <a:ext cx="1464518" cy="41508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altLang="ko-KR" sz="2400" b="1" i="0" u="none" strike="noStrike" dirty="0">
                <a:solidFill>
                  <a:srgbClr val="1C5E8D"/>
                </a:solidFill>
                <a:latin typeface="+mn-ea"/>
              </a:rPr>
              <a:t>AI </a:t>
            </a:r>
            <a:r>
              <a:rPr lang="ko-KR" altLang="en-US" sz="2400" b="1" i="0" u="none" strike="noStrike" dirty="0">
                <a:solidFill>
                  <a:srgbClr val="1C5E8D"/>
                </a:solidFill>
                <a:latin typeface="+mn-ea"/>
              </a:rPr>
              <a:t>분석</a:t>
            </a:r>
            <a:endParaRPr lang="ko-KR" sz="2400" b="1" i="0" u="none" strike="noStrike" dirty="0">
              <a:solidFill>
                <a:srgbClr val="1C5E8D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4319A-328A-154A-22A8-3CCE64FADC6D}"/>
              </a:ext>
            </a:extLst>
          </p:cNvPr>
          <p:cNvSpPr txBox="1"/>
          <p:nvPr/>
        </p:nvSpPr>
        <p:spPr>
          <a:xfrm>
            <a:off x="3400629" y="1614329"/>
            <a:ext cx="26953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ko-KR" dirty="0" err="1"/>
              <a:t>Raspberry</a:t>
            </a:r>
            <a:r>
              <a:rPr lang="ko-KR" altLang="ko-KR" dirty="0"/>
              <a:t> </a:t>
            </a:r>
            <a:r>
              <a:rPr lang="ko-KR" altLang="ko-KR" dirty="0" err="1"/>
              <a:t>Pi에서</a:t>
            </a:r>
            <a:r>
              <a:rPr lang="ko-KR" altLang="ko-KR" dirty="0"/>
              <a:t> </a:t>
            </a:r>
            <a:br>
              <a:rPr lang="en-US" altLang="ko-KR" dirty="0"/>
            </a:br>
            <a:r>
              <a:rPr lang="ko-KR" altLang="ko-KR" dirty="0"/>
              <a:t>센서 데이터를 전처리하고 </a:t>
            </a:r>
            <a:r>
              <a:rPr lang="ko-KR" altLang="ko-KR" dirty="0" err="1"/>
              <a:t>Rule-based</a:t>
            </a:r>
            <a:r>
              <a:rPr lang="ko-KR" altLang="ko-KR" dirty="0"/>
              <a:t> </a:t>
            </a:r>
            <a:br>
              <a:rPr lang="en-US" altLang="ko-KR" dirty="0"/>
            </a:br>
            <a:r>
              <a:rPr lang="ko-KR" altLang="ko-KR" dirty="0"/>
              <a:t>방식으로 낙상 후보 이벤트 탐지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C1D2B3-1D7F-C734-3EED-1833DD8FF961}"/>
              </a:ext>
            </a:extLst>
          </p:cNvPr>
          <p:cNvSpPr txBox="1"/>
          <p:nvPr/>
        </p:nvSpPr>
        <p:spPr>
          <a:xfrm>
            <a:off x="6293352" y="1614329"/>
            <a:ext cx="24901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ko-KR" dirty="0" err="1"/>
              <a:t>Cloud</a:t>
            </a:r>
            <a:r>
              <a:rPr lang="ko-KR" altLang="ko-KR" dirty="0"/>
              <a:t> </a:t>
            </a:r>
            <a:r>
              <a:rPr lang="ko-KR" altLang="ko-KR" dirty="0" err="1"/>
              <a:t>AI와</a:t>
            </a:r>
            <a:r>
              <a:rPr lang="ko-KR" altLang="ko-KR" dirty="0"/>
              <a:t> </a:t>
            </a:r>
            <a:r>
              <a:rPr lang="ko-KR" altLang="ko-KR" dirty="0" err="1"/>
              <a:t>RAG를</a:t>
            </a:r>
            <a:r>
              <a:rPr lang="ko-KR" altLang="ko-KR" dirty="0"/>
              <a:t> 활용하여 낙상 여부, 위험도, 신뢰도를 정밀 판단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479A39-A5CF-3770-B176-4D4CFF9C2276}"/>
              </a:ext>
            </a:extLst>
          </p:cNvPr>
          <p:cNvSpPr/>
          <p:nvPr/>
        </p:nvSpPr>
        <p:spPr>
          <a:xfrm>
            <a:off x="438913" y="919473"/>
            <a:ext cx="2852927" cy="2368409"/>
          </a:xfrm>
          <a:prstGeom prst="rect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D3CA2C47-7E2F-522D-3867-10D47548B578}"/>
              </a:ext>
            </a:extLst>
          </p:cNvPr>
          <p:cNvSpPr txBox="1"/>
          <p:nvPr/>
        </p:nvSpPr>
        <p:spPr>
          <a:xfrm>
            <a:off x="9765052" y="946709"/>
            <a:ext cx="1412872" cy="41508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2400" b="1" i="0" u="none" strike="noStrike" dirty="0">
                <a:solidFill>
                  <a:srgbClr val="1C5E8D"/>
                </a:solidFill>
                <a:latin typeface="+mn-ea"/>
              </a:rPr>
              <a:t>긴급 대응</a:t>
            </a:r>
            <a:endParaRPr lang="ko-KR" sz="2400" b="1" i="0" u="none" strike="noStrike" dirty="0">
              <a:solidFill>
                <a:srgbClr val="1C5E8D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90A3B7-AE30-9630-DF92-D943E477A533}"/>
              </a:ext>
            </a:extLst>
          </p:cNvPr>
          <p:cNvSpPr txBox="1"/>
          <p:nvPr/>
        </p:nvSpPr>
        <p:spPr>
          <a:xfrm>
            <a:off x="9037488" y="1614329"/>
            <a:ext cx="26267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ko-KR" dirty="0"/>
              <a:t>사용자 상태 확인 후</a:t>
            </a:r>
            <a:br>
              <a:rPr lang="en-US" altLang="ko-KR" dirty="0"/>
            </a:br>
            <a:r>
              <a:rPr lang="ko-KR" altLang="ko-KR" dirty="0"/>
              <a:t>위험 상황이면 </a:t>
            </a:r>
            <a:r>
              <a:rPr lang="ko-KR" altLang="ko-KR" dirty="0" err="1"/>
              <a:t>Discord로</a:t>
            </a:r>
            <a:r>
              <a:rPr lang="en-US" altLang="ko-KR" dirty="0"/>
              <a:t> </a:t>
            </a:r>
            <a:r>
              <a:rPr lang="ko-KR" altLang="ko-KR" dirty="0"/>
              <a:t>보호자</a:t>
            </a:r>
            <a:br>
              <a:rPr lang="en-US" altLang="ko-KR" dirty="0"/>
            </a:br>
            <a:r>
              <a:rPr lang="ko-KR" altLang="ko-KR" dirty="0"/>
              <a:t>알림 전송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762BEF3-728C-E5F3-7EEE-3CFD3F0758EA}"/>
              </a:ext>
            </a:extLst>
          </p:cNvPr>
          <p:cNvSpPr/>
          <p:nvPr/>
        </p:nvSpPr>
        <p:spPr>
          <a:xfrm>
            <a:off x="3310128" y="919473"/>
            <a:ext cx="2837858" cy="2363224"/>
          </a:xfrm>
          <a:prstGeom prst="rect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2B81A7-24F2-3D60-C981-00B7B0127237}"/>
              </a:ext>
            </a:extLst>
          </p:cNvPr>
          <p:cNvSpPr/>
          <p:nvPr/>
        </p:nvSpPr>
        <p:spPr>
          <a:xfrm>
            <a:off x="6166274" y="924659"/>
            <a:ext cx="2852927" cy="2363223"/>
          </a:xfrm>
          <a:prstGeom prst="rect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8CF94C0-4AE1-DD80-7693-AA7A4029C98E}"/>
              </a:ext>
            </a:extLst>
          </p:cNvPr>
          <p:cNvSpPr/>
          <p:nvPr/>
        </p:nvSpPr>
        <p:spPr>
          <a:xfrm>
            <a:off x="9029954" y="927725"/>
            <a:ext cx="2852927" cy="2360157"/>
          </a:xfrm>
          <a:prstGeom prst="rect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022C4BF-7A6F-6630-14C8-7E4EF0C9A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299" y="3288578"/>
            <a:ext cx="8003949" cy="3371305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35700E49-8DD2-B7C8-0D07-E90A113773D9}"/>
              </a:ext>
            </a:extLst>
          </p:cNvPr>
          <p:cNvSpPr/>
          <p:nvPr/>
        </p:nvSpPr>
        <p:spPr>
          <a:xfrm>
            <a:off x="1024129" y="3293007"/>
            <a:ext cx="10153796" cy="3348588"/>
          </a:xfrm>
          <a:prstGeom prst="rect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18">
            <a:extLst>
              <a:ext uri="{FF2B5EF4-FFF2-40B4-BE49-F238E27FC236}">
                <a16:creationId xmlns:a16="http://schemas.microsoft.com/office/drawing/2014/main" id="{421BD208-2949-974F-976F-96AA340D2BB7}"/>
              </a:ext>
            </a:extLst>
          </p:cNvPr>
          <p:cNvSpPr txBox="1"/>
          <p:nvPr/>
        </p:nvSpPr>
        <p:spPr>
          <a:xfrm>
            <a:off x="1014075" y="3363602"/>
            <a:ext cx="2451501" cy="39548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2000" b="1" dirty="0">
                <a:solidFill>
                  <a:srgbClr val="1C5E8D"/>
                </a:solidFill>
                <a:latin typeface="+mn-ea"/>
              </a:rPr>
              <a:t>시스템 동작 구조</a:t>
            </a:r>
            <a:endParaRPr lang="ko-KR" sz="2000" b="1" i="0" u="none" strike="noStrike" dirty="0">
              <a:solidFill>
                <a:srgbClr val="1C5E8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9715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프로젝트 결과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64C450B6-2D49-39AC-7C12-420A4EC71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895788"/>
            <a:ext cx="3982817" cy="243669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48FC825-E750-EC51-2FF7-3048818768F3}"/>
              </a:ext>
            </a:extLst>
          </p:cNvPr>
          <p:cNvSpPr/>
          <p:nvPr/>
        </p:nvSpPr>
        <p:spPr>
          <a:xfrm>
            <a:off x="134112" y="4114843"/>
            <a:ext cx="11899392" cy="231034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C76E8-1D81-A1A3-DCD1-FE1D78B6539E}"/>
              </a:ext>
            </a:extLst>
          </p:cNvPr>
          <p:cNvSpPr txBox="1"/>
          <p:nvPr/>
        </p:nvSpPr>
        <p:spPr>
          <a:xfrm>
            <a:off x="163068" y="4222142"/>
            <a:ext cx="11841480" cy="2116285"/>
          </a:xfrm>
          <a:prstGeom prst="rect">
            <a:avLst/>
          </a:prstGeom>
          <a:noFill/>
        </p:spPr>
        <p:txBody>
          <a:bodyPr wrap="square" spcCol="36000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임베디드 데이터 수집 파이프라인 </a:t>
            </a:r>
            <a:r>
              <a:rPr lang="en-US" altLang="ko-KR" dirty="0"/>
              <a:t>: </a:t>
            </a:r>
            <a:r>
              <a:rPr lang="ko-KR" altLang="ko-KR" dirty="0" err="1"/>
              <a:t>Raspberry</a:t>
            </a:r>
            <a:r>
              <a:rPr lang="ko-KR" altLang="ko-KR" dirty="0"/>
              <a:t> Pi·ESP32 기반 </a:t>
            </a:r>
            <a:r>
              <a:rPr lang="ko-KR" altLang="ko-KR" dirty="0" err="1"/>
              <a:t>Wi-Fi</a:t>
            </a:r>
            <a:r>
              <a:rPr lang="ko-KR" altLang="ko-KR" dirty="0"/>
              <a:t> CSI, PIR, </a:t>
            </a:r>
            <a:r>
              <a:rPr lang="ko-KR" altLang="ko-KR" dirty="0" err="1"/>
              <a:t>ToF</a:t>
            </a:r>
            <a:r>
              <a:rPr lang="ko-KR" altLang="ko-KR" dirty="0"/>
              <a:t> 데이터 수집 파이프라인 구축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실시간 저장 및 처리 흐름 </a:t>
            </a:r>
            <a:r>
              <a:rPr lang="en-US" altLang="ko-KR" dirty="0"/>
              <a:t>: </a:t>
            </a:r>
            <a:r>
              <a:rPr lang="ko-KR" altLang="ko-KR" dirty="0"/>
              <a:t>MQTT 기반 센서 데이터 수신 흐름과 </a:t>
            </a:r>
            <a:r>
              <a:rPr lang="ko-KR" altLang="ko-KR" dirty="0" err="1"/>
              <a:t>InfluxDB</a:t>
            </a:r>
            <a:r>
              <a:rPr lang="ko-KR" altLang="ko-KR" dirty="0"/>
              <a:t> 기반 시계열 데이터 저장 구조 구현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/>
              <a:t>낙상 후보 이벤트 생성:</a:t>
            </a:r>
            <a:r>
              <a:rPr lang="ko-KR" altLang="ko-KR" dirty="0"/>
              <a:t> 센서 변화량과 움직임 패턴을 기반으로 낙상 의심 상황을 이벤트 데이터로 구성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/>
              <a:t>AI </a:t>
            </a:r>
            <a:r>
              <a:rPr lang="ko-KR" altLang="en-US" b="1" dirty="0"/>
              <a:t>추론</a:t>
            </a:r>
            <a:r>
              <a:rPr lang="en-US" altLang="ko-KR" b="1" dirty="0"/>
              <a:t> </a:t>
            </a:r>
            <a:r>
              <a:rPr lang="ko-KR" altLang="en-US" b="1" dirty="0"/>
              <a:t>및 행동 엔진 </a:t>
            </a:r>
            <a:r>
              <a:rPr lang="ko-KR" altLang="ko-KR" b="1" dirty="0"/>
              <a:t> :</a:t>
            </a:r>
            <a:r>
              <a:rPr lang="ko-KR" altLang="ko-KR" dirty="0"/>
              <a:t> </a:t>
            </a:r>
            <a:r>
              <a:rPr lang="ko-KR" altLang="en-US" dirty="0"/>
              <a:t>프롬프트 기반 </a:t>
            </a:r>
            <a:r>
              <a:rPr lang="en-US" altLang="ko-KR" dirty="0"/>
              <a:t>AI </a:t>
            </a:r>
            <a:r>
              <a:rPr lang="ko-KR" altLang="en-US" dirty="0"/>
              <a:t>추론을 통한 최적의 구호 행동 가이드 생성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/>
              <a:t>알림 및 결과 화면 구현:</a:t>
            </a:r>
            <a:r>
              <a:rPr lang="ko-KR" altLang="ko-KR" dirty="0"/>
              <a:t> </a:t>
            </a:r>
            <a:r>
              <a:rPr lang="ko-KR" altLang="ko-KR" dirty="0" err="1"/>
              <a:t>Discord</a:t>
            </a:r>
            <a:r>
              <a:rPr lang="ko-KR" altLang="ko-KR" dirty="0"/>
              <a:t> 보호자 알림 전송과 관리자 확인용 이벤트 결과 화면 구성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6E19895-211E-AA94-E676-D14525002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016" y="1362132"/>
            <a:ext cx="3530984" cy="196284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06AA44B-D6D5-A761-F69C-1E0E0198A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003" y="1365803"/>
            <a:ext cx="3967877" cy="19591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A854BD9-4D74-0D58-593A-23C3951FF198}"/>
              </a:ext>
            </a:extLst>
          </p:cNvPr>
          <p:cNvSpPr txBox="1"/>
          <p:nvPr/>
        </p:nvSpPr>
        <p:spPr>
          <a:xfrm>
            <a:off x="874824" y="3368579"/>
            <a:ext cx="3074416" cy="36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4499"/>
              </a:lnSpc>
            </a:pPr>
            <a:r>
              <a:rPr lang="en-US" altLang="ko-KR" sz="1600" dirty="0">
                <a:solidFill>
                  <a:srgbClr val="1C5E8D"/>
                </a:solidFill>
                <a:latin typeface="+mn-ea"/>
              </a:rPr>
              <a:t>Discord </a:t>
            </a:r>
            <a:r>
              <a:rPr lang="ko-KR" altLang="en-US" sz="1600" dirty="0">
                <a:solidFill>
                  <a:srgbClr val="1C5E8D"/>
                </a:solidFill>
                <a:latin typeface="+mn-ea"/>
              </a:rPr>
              <a:t>보호자 알림 전송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D0300B-347F-7850-4F4F-960AD58A2E3B}"/>
              </a:ext>
            </a:extLst>
          </p:cNvPr>
          <p:cNvSpPr txBox="1"/>
          <p:nvPr/>
        </p:nvSpPr>
        <p:spPr>
          <a:xfrm>
            <a:off x="3314508" y="3368579"/>
            <a:ext cx="6096000" cy="36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4499"/>
              </a:lnSpc>
            </a:pPr>
            <a:r>
              <a:rPr lang="ko-KR" altLang="en-US" sz="1600" dirty="0">
                <a:solidFill>
                  <a:srgbClr val="1C5E8D"/>
                </a:solidFill>
                <a:latin typeface="+mn-ea"/>
              </a:rPr>
              <a:t>비정상 </a:t>
            </a:r>
            <a:r>
              <a:rPr lang="ko-KR" altLang="en-US" sz="1600" dirty="0" err="1">
                <a:solidFill>
                  <a:srgbClr val="1C5E8D"/>
                </a:solidFill>
                <a:latin typeface="+mn-ea"/>
              </a:rPr>
              <a:t>응답시</a:t>
            </a:r>
            <a:r>
              <a:rPr lang="ko-KR" altLang="en-US" sz="1600" dirty="0">
                <a:solidFill>
                  <a:srgbClr val="1C5E8D"/>
                </a:solidFill>
                <a:latin typeface="+mn-ea"/>
              </a:rPr>
              <a:t> 알림 전송 결과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A4C8AF-50BF-D1DF-C36A-C7281BE13F26}"/>
              </a:ext>
            </a:extLst>
          </p:cNvPr>
          <p:cNvSpPr txBox="1"/>
          <p:nvPr/>
        </p:nvSpPr>
        <p:spPr>
          <a:xfrm>
            <a:off x="8599733" y="3368579"/>
            <a:ext cx="3074416" cy="36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4499"/>
              </a:lnSpc>
            </a:pPr>
            <a:r>
              <a:rPr lang="ko-KR" altLang="en-US" sz="1600" dirty="0">
                <a:solidFill>
                  <a:srgbClr val="1C5E8D"/>
                </a:solidFill>
                <a:latin typeface="+mn-ea"/>
              </a:rPr>
              <a:t>정상 응답 시 알림 </a:t>
            </a:r>
            <a:r>
              <a:rPr lang="ko-KR" altLang="en-US" sz="1600" dirty="0" err="1">
                <a:solidFill>
                  <a:srgbClr val="1C5E8D"/>
                </a:solidFill>
                <a:latin typeface="+mn-ea"/>
              </a:rPr>
              <a:t>미전송</a:t>
            </a:r>
            <a:r>
              <a:rPr lang="ko-KR" altLang="en-US" sz="1600" dirty="0">
                <a:solidFill>
                  <a:srgbClr val="1C5E8D"/>
                </a:solidFill>
                <a:latin typeface="+mn-ea"/>
              </a:rPr>
              <a:t> 결과 </a:t>
            </a:r>
          </a:p>
        </p:txBody>
      </p:sp>
    </p:spTree>
    <p:extLst>
      <p:ext uri="{BB962C8B-B14F-4D97-AF65-F5344CB8AC3E}">
        <p14:creationId xmlns:p14="http://schemas.microsoft.com/office/powerpoint/2010/main" val="181232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581891" y="4178133"/>
            <a:ext cx="11039302" cy="254694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20242" y="4229221"/>
            <a:ext cx="10886245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○ 완벽한 프라이버시 보장</a:t>
            </a:r>
            <a:r>
              <a:rPr lang="en-US" altLang="ko-KR" sz="2000" dirty="0"/>
              <a:t>: </a:t>
            </a:r>
            <a:r>
              <a:rPr lang="ko-KR" altLang="en-US" sz="2000" dirty="0"/>
              <a:t>시각 데이터</a:t>
            </a:r>
            <a:r>
              <a:rPr lang="en-US" altLang="ko-KR" sz="2000" dirty="0"/>
              <a:t>(</a:t>
            </a:r>
            <a:r>
              <a:rPr lang="ko-KR" altLang="en-US" sz="2000" dirty="0"/>
              <a:t>카메라</a:t>
            </a:r>
            <a:r>
              <a:rPr lang="en-US" altLang="ko-KR" sz="2000" dirty="0"/>
              <a:t>)</a:t>
            </a:r>
            <a:r>
              <a:rPr lang="ko-KR" altLang="en-US" sz="2000" dirty="0"/>
              <a:t>를 원천 배제하여 사생활 침해 우려가 높은 </a:t>
            </a:r>
            <a:endParaRPr lang="en-US" altLang="ko-KR" sz="2000" dirty="0"/>
          </a:p>
          <a:p>
            <a:r>
              <a:rPr lang="ko-KR" altLang="en-US" sz="2000" dirty="0"/>
              <a:t>욕실</a:t>
            </a:r>
            <a:r>
              <a:rPr lang="en-US" altLang="ko-KR" sz="2000" dirty="0"/>
              <a:t>, </a:t>
            </a:r>
            <a:r>
              <a:rPr lang="ko-KR" altLang="en-US" sz="2000" dirty="0"/>
              <a:t>침실 등 개인 공간에서도 거부감 없는 </a:t>
            </a:r>
            <a:r>
              <a:rPr lang="en-US" altLang="ko-KR" sz="2000" dirty="0"/>
              <a:t>24</a:t>
            </a:r>
            <a:r>
              <a:rPr lang="ko-KR" altLang="en-US" sz="2000" dirty="0"/>
              <a:t>시간 모니터링 실현</a:t>
            </a:r>
            <a:endParaRPr lang="en-US" altLang="ko-KR" sz="2000" dirty="0"/>
          </a:p>
          <a:p>
            <a:pPr>
              <a:lnSpc>
                <a:spcPts val="2000"/>
              </a:lnSpc>
            </a:pPr>
            <a:endParaRPr lang="en-US" altLang="ko-KR" sz="2000" dirty="0"/>
          </a:p>
          <a:p>
            <a:r>
              <a:rPr lang="ko-KR" altLang="en-US" sz="2000" dirty="0"/>
              <a:t>○ 편의성 및 지속성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스마트워치</a:t>
            </a:r>
            <a:r>
              <a:rPr lang="ko-KR" altLang="en-US" sz="2000" dirty="0"/>
              <a:t> 등 </a:t>
            </a:r>
            <a:r>
              <a:rPr lang="ko-KR" altLang="en-US" sz="2000" dirty="0" err="1"/>
              <a:t>웨어러블</a:t>
            </a:r>
            <a:r>
              <a:rPr lang="ko-KR" altLang="en-US" sz="2000" dirty="0"/>
              <a:t> 기기의 미착용</a:t>
            </a:r>
            <a:r>
              <a:rPr lang="en-US" altLang="ko-KR" sz="2000" dirty="0"/>
              <a:t>, </a:t>
            </a:r>
            <a:r>
              <a:rPr lang="ko-KR" altLang="en-US" sz="2000" dirty="0"/>
              <a:t>충전 번거로움</a:t>
            </a:r>
            <a:r>
              <a:rPr lang="en-US" altLang="ko-KR" sz="2000" dirty="0"/>
              <a:t>, </a:t>
            </a:r>
            <a:r>
              <a:rPr lang="ko-KR" altLang="en-US" sz="2000" dirty="0"/>
              <a:t>분실 위험을 </a:t>
            </a:r>
            <a:endParaRPr lang="en-US" altLang="ko-KR" sz="2000" dirty="0"/>
          </a:p>
          <a:p>
            <a:r>
              <a:rPr lang="ko-KR" altLang="en-US" sz="2000" dirty="0"/>
              <a:t>근본적으로 제거한 </a:t>
            </a:r>
            <a:r>
              <a:rPr lang="ko-KR" altLang="en-US" sz="2000" dirty="0" err="1"/>
              <a:t>비접촉식</a:t>
            </a:r>
            <a:r>
              <a:rPr lang="ko-KR" altLang="en-US" sz="2000" dirty="0"/>
              <a:t> 인프라 구축</a:t>
            </a:r>
            <a:endParaRPr lang="en-US" altLang="ko-KR" sz="2000" dirty="0"/>
          </a:p>
          <a:p>
            <a:pPr>
              <a:lnSpc>
                <a:spcPts val="2000"/>
              </a:lnSpc>
            </a:pPr>
            <a:endParaRPr lang="en-US" altLang="ko-KR" sz="2000" dirty="0"/>
          </a:p>
          <a:p>
            <a:r>
              <a:rPr lang="ko-KR" altLang="en-US" sz="2000" dirty="0"/>
              <a:t>○ 비용 효율성</a:t>
            </a:r>
            <a:r>
              <a:rPr lang="en-US" altLang="ko-KR" sz="2000" dirty="0"/>
              <a:t>: </a:t>
            </a:r>
            <a:r>
              <a:rPr lang="ko-KR" altLang="en-US" sz="2000" dirty="0"/>
              <a:t>고가의 레이더 장비나 관제 시스템 대신 상용 </a:t>
            </a:r>
            <a:r>
              <a:rPr lang="en-US" altLang="ko-KR" sz="2000" dirty="0"/>
              <a:t>Wi-Fi </a:t>
            </a:r>
            <a:r>
              <a:rPr lang="ko-KR" altLang="en-US" sz="2000" dirty="0"/>
              <a:t>인프라와 </a:t>
            </a:r>
            <a:r>
              <a:rPr lang="ko-KR" altLang="en-US" sz="2000" dirty="0" err="1"/>
              <a:t>라즈베리파이를</a:t>
            </a:r>
            <a:r>
              <a:rPr lang="ko-KR" altLang="en-US" sz="2000" dirty="0"/>
              <a:t> 결합한 보급형 헬스케어 서비스 활성화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581891" y="3639471"/>
            <a:ext cx="4463934" cy="448887"/>
            <a:chOff x="627842" y="1492250"/>
            <a:chExt cx="2664888" cy="444500"/>
          </a:xfrm>
        </p:grpSpPr>
        <p:pic>
          <p:nvPicPr>
            <p:cNvPr id="21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22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i="0" u="none" strike="noStrike" dirty="0">
                  <a:solidFill>
                    <a:srgbClr val="1C5E8D"/>
                  </a:solidFill>
                  <a:latin typeface="+mn-ea"/>
                </a:rPr>
                <a:t>기대 효과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581891" y="744277"/>
            <a:ext cx="11039302" cy="253118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581891" y="154073"/>
            <a:ext cx="4463934" cy="448887"/>
            <a:chOff x="627842" y="1492250"/>
            <a:chExt cx="2664888" cy="444500"/>
          </a:xfrm>
        </p:grpSpPr>
        <p:pic>
          <p:nvPicPr>
            <p:cNvPr id="13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14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실적 산출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pic>
        <p:nvPicPr>
          <p:cNvPr id="1026" name="Picture 2" descr="https://dgd2aa8m6xe87.cloudfront.net/dcs/homepage/logo/79296eb2-9108-404d-a137-3d569385043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374" y="911004"/>
            <a:ext cx="4466390" cy="1142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374" y="1972123"/>
            <a:ext cx="4559280" cy="114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7C7DC57-4B75-2BC9-B6FD-110D3A592B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108" t="14119" r="8624" b="42013"/>
          <a:stretch>
            <a:fillRect/>
          </a:stretch>
        </p:blipFill>
        <p:spPr>
          <a:xfrm>
            <a:off x="5843565" y="1039711"/>
            <a:ext cx="5674717" cy="202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336</Words>
  <Application>Microsoft Office PowerPoint</Application>
  <PresentationFormat>와이드스크린</PresentationFormat>
  <Paragraphs>48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소프트웨어교육원</dc:creator>
  <cp:lastModifiedBy>지원 최</cp:lastModifiedBy>
  <cp:revision>13</cp:revision>
  <dcterms:created xsi:type="dcterms:W3CDTF">2025-05-26T08:38:07Z</dcterms:created>
  <dcterms:modified xsi:type="dcterms:W3CDTF">2026-06-23T05:19:17Z</dcterms:modified>
</cp:coreProperties>
</file>